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78" d="100"/>
          <a:sy n="78" d="100"/>
        </p:scale>
        <p:origin x="1555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kumarchimotegr@gmail.com" userId="3ef7f8db865eed58" providerId="LiveId" clId="{4F890591-7377-4F09-9766-9942D720806B}"/>
    <pc:docChg chg="modSld">
      <pc:chgData name="rajkumarchimotegr@gmail.com" userId="3ef7f8db865eed58" providerId="LiveId" clId="{4F890591-7377-4F09-9766-9942D720806B}" dt="2026-08-16T14:36:02.245" v="47" actId="1076"/>
      <pc:docMkLst>
        <pc:docMk/>
      </pc:docMkLst>
      <pc:sldChg chg="addSp modSp mod">
        <pc:chgData name="rajkumarchimotegr@gmail.com" userId="3ef7f8db865eed58" providerId="LiveId" clId="{4F890591-7377-4F09-9766-9942D720806B}" dt="2026-08-16T14:22:17.875" v="11" actId="403"/>
        <pc:sldMkLst>
          <pc:docMk/>
          <pc:sldMk cId="3616845591" sldId="259"/>
        </pc:sldMkLst>
        <pc:spChg chg="mod">
          <ac:chgData name="rajkumarchimotegr@gmail.com" userId="3ef7f8db865eed58" providerId="LiveId" clId="{4F890591-7377-4F09-9766-9942D720806B}" dt="2026-08-16T14:20:49.951" v="3" actId="1076"/>
          <ac:spMkLst>
            <pc:docMk/>
            <pc:sldMk cId="3616845591" sldId="259"/>
            <ac:spMk id="2" creationId="{C41D6C38-D603-DFCE-7370-94CE517C20A6}"/>
          </ac:spMkLst>
        </pc:spChg>
        <pc:spChg chg="mod">
          <ac:chgData name="rajkumarchimotegr@gmail.com" userId="3ef7f8db865eed58" providerId="LiveId" clId="{4F890591-7377-4F09-9766-9942D720806B}" dt="2026-08-16T14:22:12.689" v="10" actId="403"/>
          <ac:spMkLst>
            <pc:docMk/>
            <pc:sldMk cId="3616845591" sldId="259"/>
            <ac:spMk id="6" creationId="{0C6A918A-A64D-AB76-ADEF-0BDF89EEF676}"/>
          </ac:spMkLst>
        </pc:spChg>
        <pc:spChg chg="mod">
          <ac:chgData name="rajkumarchimotegr@gmail.com" userId="3ef7f8db865eed58" providerId="LiveId" clId="{4F890591-7377-4F09-9766-9942D720806B}" dt="2026-08-16T14:22:17.875" v="11" actId="403"/>
          <ac:spMkLst>
            <pc:docMk/>
            <pc:sldMk cId="3616845591" sldId="259"/>
            <ac:spMk id="8" creationId="{C37B0D27-EEB5-5C3A-3BEF-EE903CDE1877}"/>
          </ac:spMkLst>
        </pc:spChg>
        <pc:picChg chg="add mod">
          <ac:chgData name="rajkumarchimotegr@gmail.com" userId="3ef7f8db865eed58" providerId="LiveId" clId="{4F890591-7377-4F09-9766-9942D720806B}" dt="2026-08-16T14:20:41.722" v="2" actId="1076"/>
          <ac:picMkLst>
            <pc:docMk/>
            <pc:sldMk cId="3616845591" sldId="259"/>
            <ac:picMk id="3" creationId="{E860FEA2-4A8A-1B98-9058-C8113BEF2E51}"/>
          </ac:picMkLst>
        </pc:picChg>
      </pc:sldChg>
      <pc:sldChg chg="addSp modSp mod">
        <pc:chgData name="rajkumarchimotegr@gmail.com" userId="3ef7f8db865eed58" providerId="LiveId" clId="{4F890591-7377-4F09-9766-9942D720806B}" dt="2026-08-16T14:35:37.687" v="43" actId="14100"/>
        <pc:sldMkLst>
          <pc:docMk/>
          <pc:sldMk cId="4271049703" sldId="262"/>
        </pc:sldMkLst>
        <pc:spChg chg="mod">
          <ac:chgData name="rajkumarchimotegr@gmail.com" userId="3ef7f8db865eed58" providerId="LiveId" clId="{4F890591-7377-4F09-9766-9942D720806B}" dt="2026-08-16T14:23:53.158" v="34" actId="1076"/>
          <ac:spMkLst>
            <pc:docMk/>
            <pc:sldMk cId="4271049703" sldId="262"/>
            <ac:spMk id="2" creationId="{0AE816E8-A46B-E103-38E0-D06E02A640C2}"/>
          </ac:spMkLst>
        </pc:spChg>
        <pc:picChg chg="add mod modCrop">
          <ac:chgData name="rajkumarchimotegr@gmail.com" userId="3ef7f8db865eed58" providerId="LiveId" clId="{4F890591-7377-4F09-9766-9942D720806B}" dt="2026-08-16T14:35:37.687" v="43" actId="14100"/>
          <ac:picMkLst>
            <pc:docMk/>
            <pc:sldMk cId="4271049703" sldId="262"/>
            <ac:picMk id="5" creationId="{4C437092-B548-DA68-4DE5-607E094006E9}"/>
          </ac:picMkLst>
        </pc:picChg>
      </pc:sldChg>
      <pc:sldChg chg="addSp modSp mod">
        <pc:chgData name="rajkumarchimotegr@gmail.com" userId="3ef7f8db865eed58" providerId="LiveId" clId="{4F890591-7377-4F09-9766-9942D720806B}" dt="2026-08-16T14:36:02.245" v="47" actId="1076"/>
        <pc:sldMkLst>
          <pc:docMk/>
          <pc:sldMk cId="692716967" sldId="264"/>
        </pc:sldMkLst>
        <pc:spChg chg="mod">
          <ac:chgData name="rajkumarchimotegr@gmail.com" userId="3ef7f8db865eed58" providerId="LiveId" clId="{4F890591-7377-4F09-9766-9942D720806B}" dt="2026-08-16T14:35:50.746" v="44" actId="14100"/>
          <ac:spMkLst>
            <pc:docMk/>
            <pc:sldMk cId="692716967" sldId="264"/>
            <ac:spMk id="3" creationId="{BFAA260B-3BFF-9EE9-D9F3-5BD419D6DF5E}"/>
          </ac:spMkLst>
        </pc:spChg>
        <pc:picChg chg="add mod">
          <ac:chgData name="rajkumarchimotegr@gmail.com" userId="3ef7f8db865eed58" providerId="LiveId" clId="{4F890591-7377-4F09-9766-9942D720806B}" dt="2026-08-16T14:36:02.245" v="47" actId="1076"/>
          <ac:picMkLst>
            <pc:docMk/>
            <pc:sldMk cId="692716967" sldId="264"/>
            <ac:picMk id="4" creationId="{67191057-CDC8-B0F3-C0F0-84E64E9A4C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204" y="157811"/>
            <a:ext cx="876300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b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b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IN" sz="3200" spc="-25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540" algn="ctr"/>
            <a:r>
              <a:rPr lang="en-IN" sz="3200" dirty="0">
                <a:latin typeface="Times New Roman"/>
                <a:cs typeface="Times New Roman"/>
              </a:rPr>
              <a:t>“</a:t>
            </a:r>
            <a:r>
              <a:rPr lang="en-IN" sz="3200" dirty="0">
                <a:solidFill>
                  <a:schemeClr val="tx1"/>
                </a:solidFill>
              </a:rPr>
              <a:t>Recruitment &amp; HR Analytics Portal</a:t>
            </a:r>
            <a:r>
              <a:rPr lang="en-IN" sz="3200" spc="-10" dirty="0">
                <a:latin typeface="Times New Roman"/>
                <a:cs typeface="Times New Roman"/>
              </a:rPr>
              <a:t>”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2891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US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Gunjan R. Chimote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44282" cy="10173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8825" y="4666284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59" y="321817"/>
            <a:ext cx="124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Contents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567" y="892555"/>
            <a:ext cx="718693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Problem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Flowchart/pseudocode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"/>
              <a:buChar char="•"/>
              <a:tabLst>
                <a:tab pos="263525" algn="l"/>
              </a:tabLst>
            </a:pPr>
            <a:r>
              <a:rPr sz="1800" spc="-20" dirty="0">
                <a:latin typeface="Calibri"/>
                <a:cs typeface="Calibri"/>
              </a:rPr>
              <a:t>Understanding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1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264160" marR="5080" indent="-252095">
              <a:lnSpc>
                <a:spcPct val="100000"/>
              </a:lnSpc>
              <a:buFont typeface="Arial"/>
              <a:buChar char="•"/>
              <a:tabLst>
                <a:tab pos="264160" algn="l"/>
              </a:tabLst>
            </a:pPr>
            <a:r>
              <a:rPr sz="1800" dirty="0">
                <a:latin typeface="Calibri"/>
                <a:cs typeface="Calibri"/>
              </a:rPr>
              <a:t>GitHub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account,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repository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creation,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uploading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meaningful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commits, </a:t>
            </a:r>
            <a:r>
              <a:rPr sz="1800" spc="-20" dirty="0">
                <a:latin typeface="Calibri"/>
                <a:cs typeface="Calibri"/>
              </a:rPr>
              <a:t>collaboration,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individual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4875530" cy="212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6C38-D603-DFCE-7370-94CE517C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0805"/>
            <a:ext cx="6324600" cy="685800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370B1-D9A6-3DD2-0BC2-CC8964CBC67F}"/>
              </a:ext>
            </a:extLst>
          </p:cNvPr>
          <p:cNvSpPr txBox="1"/>
          <p:nvPr/>
        </p:nvSpPr>
        <p:spPr>
          <a:xfrm>
            <a:off x="228600" y="6400800"/>
            <a:ext cx="4648200" cy="29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lang="en-US"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lang="en-US"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lang="en-US"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2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lang="en-US" sz="1200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A918A-A64D-AB76-ADEF-0BDF89EEF676}"/>
              </a:ext>
            </a:extLst>
          </p:cNvPr>
          <p:cNvSpPr txBox="1"/>
          <p:nvPr/>
        </p:nvSpPr>
        <p:spPr>
          <a:xfrm>
            <a:off x="398207" y="1952579"/>
            <a:ext cx="464082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&amp; HR Analytics Portal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B0D27-EEB5-5C3A-3BEF-EE903CDE1877}"/>
              </a:ext>
            </a:extLst>
          </p:cNvPr>
          <p:cNvSpPr txBox="1"/>
          <p:nvPr/>
        </p:nvSpPr>
        <p:spPr>
          <a:xfrm>
            <a:off x="278989" y="3368417"/>
            <a:ext cx="4648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Python-based HR management system that manages job applications, candidate information, interview schedules, employee recruitment, and generates HR analytics reports to support effective hiring decisions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0FEA2-4A8A-1B98-9058-C8113BEF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20" y="971186"/>
            <a:ext cx="3860391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4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F94F-91BF-0C85-A2FF-757AD703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70009"/>
            <a:ext cx="4302551" cy="2215991"/>
          </a:xfrm>
        </p:spPr>
        <p:txBody>
          <a:bodyPr/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3B130-05AD-32D2-0D82-1840F69EC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3581400" cy="1815882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Automate &amp; Simplify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and simplify end-to-end recruitment workflows, reducing manual effort and administrative overhead.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64F4C-9634-8057-AA18-C9A3D04C208D}"/>
              </a:ext>
            </a:extLst>
          </p:cNvPr>
          <p:cNvSpPr txBox="1"/>
          <p:nvPr/>
        </p:nvSpPr>
        <p:spPr>
          <a:xfrm>
            <a:off x="4876800" y="1656735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Efficient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jobs, candidates, applications, and interview schedules efficiently from a single portal.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48469-E7EF-4ADB-4505-AA7E4D29447A}"/>
              </a:ext>
            </a:extLst>
          </p:cNvPr>
          <p:cNvSpPr txBox="1"/>
          <p:nvPr/>
        </p:nvSpPr>
        <p:spPr>
          <a:xfrm>
            <a:off x="481781" y="3892391"/>
            <a:ext cx="3633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Data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recruitment data using advanced data-processing techniques and machine-learning models.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18564-572B-875E-772D-A03B9AB6E391}"/>
              </a:ext>
            </a:extLst>
          </p:cNvPr>
          <p:cNvSpPr txBox="1"/>
          <p:nvPr/>
        </p:nvSpPr>
        <p:spPr>
          <a:xfrm>
            <a:off x="5410200" y="3892391"/>
            <a:ext cx="266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D2562-F459-5F19-682C-88F0FBAB3B94}"/>
              </a:ext>
            </a:extLst>
          </p:cNvPr>
          <p:cNvSpPr txBox="1"/>
          <p:nvPr/>
        </p:nvSpPr>
        <p:spPr>
          <a:xfrm>
            <a:off x="4876800" y="3892391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Visual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rich visual HR insights via interactive charts to support smarter, data-driven hiring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25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C0D9-BC66-232F-8726-DB7A094C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52400"/>
            <a:ext cx="3082925" cy="1477328"/>
          </a:xfrm>
        </p:spPr>
        <p:txBody>
          <a:bodyPr/>
          <a:lstStyle/>
          <a:p>
            <a:r>
              <a:rPr lang="en-IN" dirty="0"/>
              <a:t>Algorithm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7CF6F-0A06-BE46-CD11-47466E021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320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8F73A-72D4-B68B-570F-7359EF0EF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14400"/>
            <a:ext cx="8610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4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16E8-A46B-E103-38E0-D06E02A6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52400"/>
            <a:ext cx="3082925" cy="756920"/>
          </a:xfrm>
        </p:spPr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40746-02FD-7845-7816-C59E98E3D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46700"/>
            <a:ext cx="8229600" cy="7569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37092-B548-DA68-4DE5-607E09400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3"/>
          <a:stretch>
            <a:fillRect/>
          </a:stretch>
        </p:blipFill>
        <p:spPr>
          <a:xfrm>
            <a:off x="228600" y="1143000"/>
            <a:ext cx="8686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4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6B5C-6253-4D25-5171-9BA14D51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9829800" cy="1612583"/>
          </a:xfrm>
        </p:spPr>
        <p:txBody>
          <a:bodyPr/>
          <a:lstStyle/>
          <a:p>
            <a:r>
              <a:rPr lang="en-IN" sz="5400" dirty="0"/>
              <a:t>Understanding of Python Logic</a:t>
            </a:r>
            <a:br>
              <a:rPr lang="en-IN" sz="6000" dirty="0"/>
            </a:br>
            <a:endParaRPr lang="en-IN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BB46F-5C32-B16C-4615-389A42A56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757" y="1873091"/>
            <a:ext cx="4572000" cy="4431983"/>
          </a:xfrm>
        </p:spPr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Handling: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job, candidate, application, and interview details.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&amp; Data Types: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and organize recruitment information.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application and interview status.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tasks such as adding, updating, and managing records.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multiple candidates and applications.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and NumPy analyze recruitment data.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is used for classification/prediction.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HR analytics through interactive charts.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36D75-3C04-CF4C-364D-8F5E25500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24445" r="3333" b="7777"/>
          <a:stretch>
            <a:fillRect/>
          </a:stretch>
        </p:blipFill>
        <p:spPr>
          <a:xfrm>
            <a:off x="4858473" y="1764983"/>
            <a:ext cx="4267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7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D248-6B42-EBFD-DB73-30D59F8B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937" y="152400"/>
            <a:ext cx="3082925" cy="1477328"/>
          </a:xfrm>
        </p:spPr>
        <p:txBody>
          <a:bodyPr/>
          <a:lstStyle/>
          <a:p>
            <a:r>
              <a:rPr lang="en-IN" dirty="0"/>
              <a:t>GitHub 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A260B-3BFF-9EE9-D9F3-5BD419D6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4114800" cy="42672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dedicated GitHub repository for the Experiential Learning project.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is used to upload and maintain the complete project code and related files.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Built data processing pipeline using Pandas &amp; NumPy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Developed HR analytics visualizations with </a:t>
            </a:r>
            <a:r>
              <a:rPr lang="en-IN" sz="2000" dirty="0" err="1"/>
              <a:t>Plotly</a:t>
            </a:r>
            <a:r>
              <a:rPr lang="en-IN" sz="2000" dirty="0"/>
              <a:t> &amp; dashboard in </a:t>
            </a:r>
            <a:r>
              <a:rPr lang="en-IN" sz="2000" dirty="0" err="1"/>
              <a:t>Streamlit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91057-CDC8-B0F3-C0F0-84E64E9A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86" y="1524000"/>
            <a:ext cx="3882514" cy="44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1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392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Experiential Learning  Project Assessment-I  on “Recruitment &amp; HR Analytics Portal”</vt:lpstr>
      <vt:lpstr>Contents</vt:lpstr>
      <vt:lpstr>Problem Statement</vt:lpstr>
      <vt:lpstr>Objectives </vt:lpstr>
      <vt:lpstr>Algorithm </vt:lpstr>
      <vt:lpstr>Flowchart</vt:lpstr>
      <vt:lpstr>Understanding of Python Logic </vt:lpstr>
      <vt:lpstr>GitHub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Gunjan</dc:creator>
  <cp:lastModifiedBy>rajkumarchimotegr@gmail.com</cp:lastModifiedBy>
  <cp:revision>1</cp:revision>
  <dcterms:created xsi:type="dcterms:W3CDTF">2026-08-16T04:20:28Z</dcterms:created>
  <dcterms:modified xsi:type="dcterms:W3CDTF">2026-08-16T14:36:05Z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2026-08-16T00:00:00Z</vt:filetime>
  </property>
</Properties>
</file>