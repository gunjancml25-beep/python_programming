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78" d="100"/>
          <a:sy n="78" d="100"/>
        </p:scale>
        <p:origin x="155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kumarchimotegr@gmail.com" userId="3ef7f8db865eed58" providerId="LiveId" clId="{4F890591-7377-4F09-9766-9942D720806B}"/>
    <pc:docChg chg="modSld">
      <pc:chgData name="rajkumarchimotegr@gmail.com" userId="3ef7f8db865eed58" providerId="LiveId" clId="{4F890591-7377-4F09-9766-9942D720806B}" dt="2026-10-28T15:23:45.333" v="10" actId="20577"/>
      <pc:docMkLst>
        <pc:docMk/>
      </pc:docMkLst>
      <pc:sldChg chg="modSp mod">
        <pc:chgData name="rajkumarchimotegr@gmail.com" userId="3ef7f8db865eed58" providerId="LiveId" clId="{4F890591-7377-4F09-9766-9942D720806B}" dt="2026-10-28T15:23:45.333" v="10" actId="20577"/>
        <pc:sldMkLst>
          <pc:docMk/>
          <pc:sldMk cId="0" sldId="256"/>
        </pc:sldMkLst>
        <pc:spChg chg="mod">
          <ac:chgData name="rajkumarchimotegr@gmail.com" userId="3ef7f8db865eed58" providerId="LiveId" clId="{4F890591-7377-4F09-9766-9942D720806B}" dt="2026-10-28T15:23:45.333" v="1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204" y="157811"/>
            <a:ext cx="876300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b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IN"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II</a:t>
            </a:r>
            <a:b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IN" sz="3200" spc="-25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540" algn="ctr"/>
            <a:r>
              <a:rPr lang="en-IN" sz="3200" dirty="0">
                <a:latin typeface="Times New Roman"/>
                <a:cs typeface="Times New Roman"/>
              </a:rPr>
              <a:t>“</a:t>
            </a:r>
            <a:r>
              <a:rPr lang="en-IN" sz="3200" dirty="0">
                <a:solidFill>
                  <a:schemeClr val="tx1"/>
                </a:solidFill>
              </a:rPr>
              <a:t>Recruitment &amp; HR Analytics Portal</a:t>
            </a:r>
            <a:r>
              <a:rPr lang="en-IN" sz="3200" spc="-10" dirty="0">
                <a:latin typeface="Times New Roman"/>
                <a:cs typeface="Times New Roman"/>
              </a:rPr>
              <a:t>”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2891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US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Gunjan R. Chimote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44282" cy="10173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8825" y="4666284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59" y="321817"/>
            <a:ext cx="124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Contents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567" y="892555"/>
            <a:ext cx="718693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Problem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Flowchart/pseudocode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20" dirty="0">
                <a:latin typeface="Calibri"/>
                <a:cs typeface="Calibri"/>
              </a:rPr>
              <a:t>Understanding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1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264160" marR="5080" indent="-252095">
              <a:lnSpc>
                <a:spcPct val="100000"/>
              </a:lnSpc>
              <a:buFont typeface="Arial"/>
              <a:buChar char="•"/>
              <a:tabLst>
                <a:tab pos="264160" algn="l"/>
              </a:tabLst>
            </a:pPr>
            <a:r>
              <a:rPr sz="1800" dirty="0">
                <a:latin typeface="Calibri"/>
                <a:cs typeface="Calibri"/>
              </a:rPr>
              <a:t>GitHub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account,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repository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creation,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uploading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meaningful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commits, </a:t>
            </a:r>
            <a:r>
              <a:rPr sz="1800" spc="-20" dirty="0">
                <a:latin typeface="Calibri"/>
                <a:cs typeface="Calibri"/>
              </a:rPr>
              <a:t>collaboration,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individual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4875530" cy="212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6C38-D603-DFCE-7370-94CE517C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0805"/>
            <a:ext cx="6324600" cy="685800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370B1-D9A6-3DD2-0BC2-CC8964CBC67F}"/>
              </a:ext>
            </a:extLst>
          </p:cNvPr>
          <p:cNvSpPr txBox="1"/>
          <p:nvPr/>
        </p:nvSpPr>
        <p:spPr>
          <a:xfrm>
            <a:off x="228600" y="6400800"/>
            <a:ext cx="4648200" cy="29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lang="en-US"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lang="en-US"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lang="en-US" sz="1200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A918A-A64D-AB76-ADEF-0BDF89EEF676}"/>
              </a:ext>
            </a:extLst>
          </p:cNvPr>
          <p:cNvSpPr txBox="1"/>
          <p:nvPr/>
        </p:nvSpPr>
        <p:spPr>
          <a:xfrm>
            <a:off x="398207" y="1952579"/>
            <a:ext cx="46408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&amp; HR Analytics Portal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(Phase 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B0D27-EEB5-5C3A-3BEF-EE903CDE1877}"/>
              </a:ext>
            </a:extLst>
          </p:cNvPr>
          <p:cNvSpPr txBox="1"/>
          <p:nvPr/>
        </p:nvSpPr>
        <p:spPr>
          <a:xfrm>
            <a:off x="278989" y="3368417"/>
            <a:ext cx="4648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Python-based HR management system that manages job applications, candidate information, interview schedules, employee recruitment, and generates HR analytics reports to support effective hiring decisions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0FEA2-4A8A-1B98-9058-C8113BEF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20" y="971186"/>
            <a:ext cx="3860391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4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F94F-91BF-0C85-A2FF-757AD703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70009"/>
            <a:ext cx="4302551" cy="2215991"/>
          </a:xfrm>
        </p:spPr>
        <p:txBody>
          <a:bodyPr/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3B130-05AD-32D2-0D82-1840F69EC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3581400" cy="1815882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and simplify end-to-end recruitment workflows, reducing manual effort and administrative overhead.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64F4C-9634-8057-AA18-C9A3D04C208D}"/>
              </a:ext>
            </a:extLst>
          </p:cNvPr>
          <p:cNvSpPr txBox="1"/>
          <p:nvPr/>
        </p:nvSpPr>
        <p:spPr>
          <a:xfrm>
            <a:off x="4876800" y="1656735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Efficient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jobs, candidates, applications, and interview schedules efficiently from a single portal.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48469-E7EF-4ADB-4505-AA7E4D29447A}"/>
              </a:ext>
            </a:extLst>
          </p:cNvPr>
          <p:cNvSpPr txBox="1"/>
          <p:nvPr/>
        </p:nvSpPr>
        <p:spPr>
          <a:xfrm>
            <a:off x="481781" y="3892391"/>
            <a:ext cx="3633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Data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recruitment data using advanced data-processing techniques and machine-learning models.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18564-572B-875E-772D-A03B9AB6E391}"/>
              </a:ext>
            </a:extLst>
          </p:cNvPr>
          <p:cNvSpPr txBox="1"/>
          <p:nvPr/>
        </p:nvSpPr>
        <p:spPr>
          <a:xfrm>
            <a:off x="5410200" y="3892391"/>
            <a:ext cx="266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D2562-F459-5F19-682C-88F0FBAB3B94}"/>
              </a:ext>
            </a:extLst>
          </p:cNvPr>
          <p:cNvSpPr txBox="1"/>
          <p:nvPr/>
        </p:nvSpPr>
        <p:spPr>
          <a:xfrm>
            <a:off x="4876800" y="3892391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Visual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rich visual HR insights via interactive charts to support smarter, data-driven hiring decisions.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01F93B-1A4A-17A6-B5DE-D377A5695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95457"/>
              </p:ext>
            </p:extLst>
          </p:nvPr>
        </p:nvGraphicFramePr>
        <p:xfrm>
          <a:off x="2322576" y="3520916"/>
          <a:ext cx="4498848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8848">
                  <a:extLst>
                    <a:ext uri="{9D8B030D-6E8A-4147-A177-3AD203B41FA5}">
                      <a16:colId xmlns:a16="http://schemas.microsoft.com/office/drawing/2014/main" val="783086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l" fontAlgn="base">
                        <a:buNone/>
                      </a:pPr>
                      <a:endParaRPr lang="en-IN" b="0" i="0" dirty="0">
                        <a:solidFill>
                          <a:srgbClr val="2E2B29"/>
                        </a:solidFill>
                        <a:effectLst/>
                        <a:latin typeface="baselGrotesk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18107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7A23E53-2FFB-08BA-7BD4-BA0EB1789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 t="20927" r="1666" b="8750"/>
          <a:stretch>
            <a:fillRect/>
          </a:stretch>
        </p:blipFill>
        <p:spPr>
          <a:xfrm>
            <a:off x="152400" y="914400"/>
            <a:ext cx="8839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5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C0D9-BC66-232F-8726-DB7A094C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99536"/>
            <a:ext cx="3082925" cy="1477328"/>
          </a:xfrm>
        </p:spPr>
        <p:txBody>
          <a:bodyPr/>
          <a:lstStyle/>
          <a:p>
            <a:r>
              <a:rPr lang="en-IN" dirty="0"/>
              <a:t>Algorithm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7CF6F-0A06-BE46-CD11-47466E021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320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19ECB-BA04-AB1D-3B64-6FB14D150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t="13750" r="832" b="11250"/>
          <a:stretch>
            <a:fillRect/>
          </a:stretch>
        </p:blipFill>
        <p:spPr>
          <a:xfrm>
            <a:off x="152400" y="838200"/>
            <a:ext cx="88392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4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16E8-A46B-E103-38E0-D06E02A6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458"/>
            <a:ext cx="3082925" cy="756920"/>
          </a:xfrm>
        </p:spPr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40746-02FD-7845-7816-C59E98E3D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46700"/>
            <a:ext cx="8229600" cy="7569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37092-B548-DA68-4DE5-607E09400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3"/>
          <a:stretch>
            <a:fillRect/>
          </a:stretch>
        </p:blipFill>
        <p:spPr>
          <a:xfrm>
            <a:off x="152400" y="754380"/>
            <a:ext cx="8839200" cy="55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4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6B5C-6253-4D25-5171-9BA14D51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9829800" cy="1612583"/>
          </a:xfrm>
        </p:spPr>
        <p:txBody>
          <a:bodyPr/>
          <a:lstStyle/>
          <a:p>
            <a:r>
              <a:rPr lang="en-IN" sz="5400" dirty="0"/>
              <a:t>Understanding of Python Logic</a:t>
            </a:r>
            <a:br>
              <a:rPr lang="en-IN" sz="6000" dirty="0"/>
            </a:br>
            <a:endParaRPr lang="en-IN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BB46F-5C32-B16C-4615-389A42A56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64983"/>
            <a:ext cx="8458200" cy="4893647"/>
          </a:xfrm>
        </p:spPr>
        <p:txBody>
          <a:bodyPr/>
          <a:lstStyle/>
          <a:p>
            <a:pPr lvl="0" rtl="0"/>
            <a:r>
              <a:rPr lang="en-IN" sz="2000" b="1" dirty="0">
                <a:latin typeface="+mj-lt"/>
              </a:rPr>
              <a:t>Relational Database Management : </a:t>
            </a:r>
            <a:r>
              <a:rPr lang="en-IN" sz="2000" dirty="0">
                <a:latin typeface="+mj-lt"/>
              </a:rPr>
              <a:t>Creates structured tables (jobs, candidates, applications, interviews) with foreign key constraints to enforce data integrity and avoid redundancy.</a:t>
            </a:r>
          </a:p>
          <a:p>
            <a:pPr lvl="0" rtl="0"/>
            <a:r>
              <a:rPr lang="en-IN" sz="2000" b="1" dirty="0">
                <a:latin typeface="+mj-lt"/>
              </a:rPr>
              <a:t>Dynamic UI Routing &amp; Execution (</a:t>
            </a:r>
            <a:r>
              <a:rPr lang="en-IN" sz="2000" b="1" dirty="0" err="1">
                <a:latin typeface="+mj-lt"/>
              </a:rPr>
              <a:t>Streamlit</a:t>
            </a:r>
            <a:r>
              <a:rPr lang="en-IN" sz="2000" b="1" dirty="0">
                <a:latin typeface="+mj-lt"/>
              </a:rPr>
              <a:t>):</a:t>
            </a:r>
            <a:r>
              <a:rPr lang="en-IN" sz="2000" dirty="0">
                <a:latin typeface="+mj-lt"/>
              </a:rPr>
              <a:t> Uses sidebar navigation to route execution flow and triggers </a:t>
            </a:r>
            <a:r>
              <a:rPr lang="en-IN" sz="2000" dirty="0" err="1">
                <a:latin typeface="+mj-lt"/>
              </a:rPr>
              <a:t>st.rerun</a:t>
            </a:r>
            <a:r>
              <a:rPr lang="en-IN" sz="2000" dirty="0">
                <a:latin typeface="+mj-lt"/>
              </a:rPr>
              <a:t>() to refresh the app state immediately after database updates.</a:t>
            </a:r>
          </a:p>
          <a:p>
            <a:pPr lvl="0" rtl="0"/>
            <a:r>
              <a:rPr lang="en-IN" sz="2000" b="1" dirty="0">
                <a:latin typeface="+mj-lt"/>
              </a:rPr>
              <a:t>Data Input &amp; Format Validation:</a:t>
            </a:r>
            <a:r>
              <a:rPr lang="en-IN" sz="2000" dirty="0">
                <a:latin typeface="+mj-lt"/>
              </a:rPr>
              <a:t> Uses Regex (re) and datetime functions to validate email syntax, date, and time inputs before committing entries to the database.</a:t>
            </a:r>
          </a:p>
          <a:p>
            <a:pPr lvl="0" rtl="0"/>
            <a:r>
              <a:rPr lang="en-IN" sz="2000" b="1" dirty="0">
                <a:latin typeface="+mj-lt"/>
              </a:rPr>
              <a:t>Data Analytics &amp; Visualization (Pandas &amp; </a:t>
            </a:r>
            <a:r>
              <a:rPr lang="en-IN" sz="2000" b="1" dirty="0" err="1">
                <a:latin typeface="+mj-lt"/>
              </a:rPr>
              <a:t>Plotly</a:t>
            </a:r>
            <a:r>
              <a:rPr lang="en-IN" sz="2000" b="1" dirty="0">
                <a:latin typeface="+mj-lt"/>
              </a:rPr>
              <a:t>):</a:t>
            </a:r>
            <a:r>
              <a:rPr lang="en-IN" sz="2000" dirty="0">
                <a:latin typeface="+mj-lt"/>
              </a:rPr>
              <a:t> Processes raw SQL query results into Pandas </a:t>
            </a:r>
            <a:r>
              <a:rPr lang="en-IN" sz="2000" dirty="0" err="1">
                <a:latin typeface="+mj-lt"/>
              </a:rPr>
              <a:t>DataFrames</a:t>
            </a:r>
            <a:r>
              <a:rPr lang="en-IN" sz="2000" dirty="0">
                <a:latin typeface="+mj-lt"/>
              </a:rPr>
              <a:t> to generate real-time metrics, pipeline funnels, and distribution charts.</a:t>
            </a:r>
          </a:p>
          <a:p>
            <a:pPr lvl="0" rtl="0"/>
            <a:r>
              <a:rPr lang="en-IN" sz="2000" b="1" dirty="0">
                <a:latin typeface="+mj-lt"/>
              </a:rPr>
              <a:t>Interactive Editing &amp; Export:</a:t>
            </a:r>
            <a:r>
              <a:rPr lang="en-IN" sz="2000" dirty="0">
                <a:latin typeface="+mj-lt"/>
              </a:rPr>
              <a:t> Enables inline table updates by comparing edited </a:t>
            </a:r>
            <a:r>
              <a:rPr lang="en-IN" sz="2000" dirty="0" err="1">
                <a:latin typeface="+mj-lt"/>
              </a:rPr>
              <a:t>DataFrames</a:t>
            </a:r>
            <a:r>
              <a:rPr lang="en-IN" sz="2000" dirty="0">
                <a:latin typeface="+mj-lt"/>
              </a:rPr>
              <a:t> to source data and encodes reports using Base64 for one-click CSV downloads.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07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D248-6B42-EBFD-DB73-30D59F8B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937" y="152400"/>
            <a:ext cx="3082925" cy="1477328"/>
          </a:xfrm>
        </p:spPr>
        <p:txBody>
          <a:bodyPr/>
          <a:lstStyle/>
          <a:p>
            <a:r>
              <a:rPr lang="en-IN" dirty="0"/>
              <a:t>GitHub 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A260B-3BFF-9EE9-D9F3-5BD419D6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295400"/>
            <a:ext cx="6934200" cy="50292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dedicated GitHub repository for the Experiential Learning project.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is used to upload and maintain the complete project code and related files.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Built data processing pipeline using Pandas &amp; NumPy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Developed HR analytics visualizations with </a:t>
            </a:r>
            <a:r>
              <a:rPr lang="en-IN" sz="2000" dirty="0" err="1"/>
              <a:t>Plotly</a:t>
            </a:r>
            <a:r>
              <a:rPr lang="en-IN" sz="2000" dirty="0"/>
              <a:t> &amp; dashboard in </a:t>
            </a:r>
            <a:r>
              <a:rPr lang="en-IN" sz="2000" dirty="0" err="1"/>
              <a:t>Streamlit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71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452</Words>
  <Application>Microsoft Office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baselGrotesk</vt:lpstr>
      <vt:lpstr>Calibri</vt:lpstr>
      <vt:lpstr>Cambria</vt:lpstr>
      <vt:lpstr>Times New Roman</vt:lpstr>
      <vt:lpstr>Office Theme</vt:lpstr>
      <vt:lpstr>Experiential Learning  Project Assessment-III on “Recruitment &amp; HR Analytics Portal”</vt:lpstr>
      <vt:lpstr>Contents</vt:lpstr>
      <vt:lpstr>Problem Statement</vt:lpstr>
      <vt:lpstr>Objectives </vt:lpstr>
      <vt:lpstr>Algorithm </vt:lpstr>
      <vt:lpstr>Flowchart</vt:lpstr>
      <vt:lpstr>Understanding of Python Logic </vt:lpstr>
      <vt:lpstr>GitHub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Gunjan</dc:creator>
  <cp:lastModifiedBy>rajkumarchimotegr@gmail.com</cp:lastModifiedBy>
  <cp:revision>3</cp:revision>
  <dcterms:created xsi:type="dcterms:W3CDTF">2026-08-16T04:20:28Z</dcterms:created>
  <dcterms:modified xsi:type="dcterms:W3CDTF">2026-10-28T15:23:51Z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2026-08-16T00:00:00Z</vt:filetime>
  </property>
</Properties>
</file>